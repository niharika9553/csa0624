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1" r:id="rId7"/>
    <p:sldId id="263" r:id="rId8"/>
    <p:sldId id="264" r:id="rId9"/>
    <p:sldId id="272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>
      <p:cViewPr varScale="1">
        <p:scale>
          <a:sx n="78" d="100"/>
          <a:sy n="78" d="100"/>
        </p:scale>
        <p:origin x="103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2233" y="398475"/>
            <a:ext cx="6216904" cy="976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0071" y="1532585"/>
            <a:ext cx="5106670" cy="4385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0159" y="4648200"/>
            <a:ext cx="3952240" cy="841256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en-IN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PRESENTED</a:t>
            </a:r>
            <a:r>
              <a:rPr lang="en-IN" sz="2000" b="1" spc="-1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BY</a:t>
            </a:r>
            <a:endParaRPr lang="en-IN" sz="2000" spc="-25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en-IN" sz="2000" dirty="0">
                <a:latin typeface="Times New Roman"/>
                <a:cs typeface="Times New Roman"/>
              </a:rPr>
              <a:t>M</a:t>
            </a:r>
            <a:r>
              <a:rPr lang="en-IN" sz="2000" b="1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.Niharika(192472392)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817" y="404312"/>
            <a:ext cx="10485942" cy="116241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1817" y="2033451"/>
            <a:ext cx="10323383" cy="1074012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923414" marR="5080" indent="-1911350" algn="ctr">
              <a:lnSpc>
                <a:spcPts val="4240"/>
              </a:lnSpc>
              <a:spcBef>
                <a:spcPts val="275"/>
              </a:spcBef>
            </a:pPr>
            <a:r>
              <a:rPr lang="en-IN" sz="3200" dirty="0"/>
              <a:t>Recursion Tree Analysis for Three-Way Recurrence</a:t>
            </a:r>
            <a:br>
              <a:rPr lang="en-IN" sz="3200" dirty="0"/>
            </a:br>
            <a:r>
              <a:rPr lang="en-IN" sz="3200" dirty="0"/>
              <a:t>with Constant Work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97F5C-0121-6345-6B95-FF928A84722C}"/>
              </a:ext>
            </a:extLst>
          </p:cNvPr>
          <p:cNvSpPr txBox="1"/>
          <p:nvPr/>
        </p:nvSpPr>
        <p:spPr>
          <a:xfrm>
            <a:off x="609601" y="4397479"/>
            <a:ext cx="4114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GUIDE:</a:t>
            </a: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Gnanajeyaraman Rajaram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30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chemeClr val="accent4">
                    <a:lumMod val="50000"/>
                  </a:schemeClr>
                </a:solidFill>
              </a:rPr>
              <a:t>INTRODUCTION</a:t>
            </a:r>
            <a:endParaRPr sz="44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4340" y="512952"/>
            <a:ext cx="919162" cy="914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979" y="608456"/>
            <a:ext cx="698500" cy="88582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3E136DA-F8C1-AD8F-2681-7BCE00829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" y="3287018"/>
            <a:ext cx="998220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A7DA46A-4658-2CF6-6174-5B11650254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32F3A-039D-F22A-C36E-DCD339BF36A4}"/>
              </a:ext>
            </a:extLst>
          </p:cNvPr>
          <p:cNvSpPr txBox="1"/>
          <p:nvPr/>
        </p:nvSpPr>
        <p:spPr>
          <a:xfrm>
            <a:off x="1066800" y="2133600"/>
            <a:ext cx="9982201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is a technique where a function calls itself.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algorithms are represented using recurrence relations.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Recursion Tree Method is used to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recursive algorithms.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calculates the work performed at each level.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work gives the overall time complexity.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7600" y="228600"/>
            <a:ext cx="5683504" cy="1070600"/>
          </a:xfrm>
          <a:prstGeom prst="rect">
            <a:avLst/>
          </a:prstGeom>
        </p:spPr>
        <p:txBody>
          <a:bodyPr vert="horz" wrap="square" lIns="0" tIns="4506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Problem Statement</a:t>
            </a:r>
            <a:endParaRPr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4340" y="512952"/>
            <a:ext cx="919162" cy="914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979" y="608456"/>
            <a:ext cx="698500" cy="885825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1438FE49-85E3-3ACF-CA10-EFAFDAFC2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479" y="3710272"/>
            <a:ext cx="10212731" cy="1822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3258B-5630-4E24-7A03-91F193996E36}"/>
              </a:ext>
            </a:extLst>
          </p:cNvPr>
          <p:cNvSpPr txBox="1"/>
          <p:nvPr/>
        </p:nvSpPr>
        <p:spPr>
          <a:xfrm>
            <a:off x="1524000" y="1600200"/>
            <a:ext cx="9989502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Recurrence: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3T(n/3) + 1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Three recursive calls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Size of each subproblem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Constant work at each call 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recursion tree.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cost at each level.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overall time complexity.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Recursion Tree Method - Scaler Topics">
            <a:extLst>
              <a:ext uri="{FF2B5EF4-FFF2-40B4-BE49-F238E27FC236}">
                <a16:creationId xmlns:a16="http://schemas.microsoft.com/office/drawing/2014/main" id="{F50D7041-C971-CEB2-69AF-560FAF751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905000"/>
            <a:ext cx="4648200" cy="4440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76201"/>
            <a:ext cx="6885514" cy="1461861"/>
          </a:xfrm>
          <a:prstGeom prst="rect">
            <a:avLst/>
          </a:prstGeom>
        </p:spPr>
        <p:txBody>
          <a:bodyPr vert="horz" wrap="square" lIns="0" tIns="472363" rIns="0" bIns="0" rtlCol="0">
            <a:spAutoFit/>
          </a:bodyPr>
          <a:lstStyle/>
          <a:p>
            <a:pPr marL="608965">
              <a:spcBef>
                <a:spcPts val="105"/>
              </a:spcBef>
            </a:pPr>
            <a:r>
              <a:rPr lang="en-IN" sz="3200" dirty="0"/>
              <a:t>Recursion Tree Construction</a:t>
            </a:r>
            <a:br>
              <a:rPr lang="en-IN" sz="3200" dirty="0"/>
            </a:br>
            <a:endParaRPr sz="32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527239"/>
            <a:ext cx="698500" cy="885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4340" y="512952"/>
            <a:ext cx="919162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92A8C-7C35-BFF3-D971-3623447C12D3}"/>
              </a:ext>
            </a:extLst>
          </p:cNvPr>
          <p:cNvSpPr txBox="1"/>
          <p:nvPr/>
        </p:nvSpPr>
        <p:spPr>
          <a:xfrm>
            <a:off x="1219200" y="1538062"/>
            <a:ext cx="11353800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</a:t>
            </a:r>
          </a:p>
          <a:p>
            <a:pPr>
              <a:buNone/>
            </a:pPr>
            <a:r>
              <a:rPr lang="en-IN" b="1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= 1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/      |      \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T(n/3)  T(n/3)  T(n/3)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1        1        1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/ | \    / | \    / | \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T(n/9)... T(n/9)... T(n/9)...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→ 1 node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→ 3 nodes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 → 9 nodes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 → 27 nodes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nodes increases by a factor of 3.</a:t>
            </a:r>
          </a:p>
          <a:p>
            <a:pPr>
              <a:lnSpc>
                <a:spcPct val="150000"/>
              </a:lnSpc>
              <a:buNone/>
            </a:pPr>
            <a:endParaRPr lang="en-IN" dirty="0"/>
          </a:p>
        </p:txBody>
      </p:sp>
      <p:pic>
        <p:nvPicPr>
          <p:cNvPr id="4" name="Picture 3" descr="Recursion Tree Method - Scaler Topics">
            <a:extLst>
              <a:ext uri="{FF2B5EF4-FFF2-40B4-BE49-F238E27FC236}">
                <a16:creationId xmlns:a16="http://schemas.microsoft.com/office/drawing/2014/main" id="{049A8DA4-80A2-9AA0-874E-CEF830856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413064"/>
            <a:ext cx="5070384" cy="4931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1600" y="439723"/>
            <a:ext cx="8534400" cy="1226926"/>
          </a:xfrm>
          <a:prstGeom prst="rect">
            <a:avLst/>
          </a:prstGeom>
        </p:spPr>
        <p:txBody>
          <a:bodyPr vert="horz" wrap="square" lIns="0" tIns="239700" rIns="0" bIns="0" rtlCol="0">
            <a:spAutoFit/>
          </a:bodyPr>
          <a:lstStyle/>
          <a:p>
            <a:pPr marL="1734185">
              <a:spcBef>
                <a:spcPts val="95"/>
              </a:spcBef>
            </a:pPr>
            <a:r>
              <a:rPr lang="en-IN" sz="3200" dirty="0"/>
              <a:t>           Cost Analysis</a:t>
            </a:r>
            <a:br>
              <a:rPr lang="en-IN" sz="3200" dirty="0"/>
            </a:br>
            <a:endParaRPr sz="3200" spc="-1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970" y="431673"/>
            <a:ext cx="698500" cy="885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7880" y="403097"/>
            <a:ext cx="919162" cy="9144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0A6457C-200C-57B7-5FCF-949A41A7D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442503"/>
            <a:ext cx="184731" cy="735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7FD00F-5921-E88B-4C55-5F84B3373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871810"/>
              </p:ext>
            </p:extLst>
          </p:nvPr>
        </p:nvGraphicFramePr>
        <p:xfrm>
          <a:off x="2362200" y="4454854"/>
          <a:ext cx="2553494" cy="1463040"/>
        </p:xfrm>
        <a:graphic>
          <a:graphicData uri="http://schemas.openxmlformats.org/drawingml/2006/table">
            <a:tbl>
              <a:tblPr/>
              <a:tblGrid>
                <a:gridCol w="1276747">
                  <a:extLst>
                    <a:ext uri="{9D8B030D-6E8A-4147-A177-3AD203B41FA5}">
                      <a16:colId xmlns:a16="http://schemas.microsoft.com/office/drawing/2014/main" val="3211343163"/>
                    </a:ext>
                  </a:extLst>
                </a:gridCol>
                <a:gridCol w="1276747">
                  <a:extLst>
                    <a:ext uri="{9D8B030D-6E8A-4147-A177-3AD203B41FA5}">
                      <a16:colId xmlns:a16="http://schemas.microsoft.com/office/drawing/2014/main" val="3437557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31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729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970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0885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8D7A3A-66DD-F709-75EE-2E7772CE4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098287"/>
              </p:ext>
            </p:extLst>
          </p:nvPr>
        </p:nvGraphicFramePr>
        <p:xfrm>
          <a:off x="1143000" y="1905000"/>
          <a:ext cx="9677400" cy="254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411816695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893237872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1775971736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3211917532"/>
                    </a:ext>
                  </a:extLst>
                </a:gridCol>
              </a:tblGrid>
              <a:tr h="424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 per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225741"/>
                  </a:ext>
                </a:extLst>
              </a:tr>
              <a:tr h="424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356006"/>
                  </a:ext>
                </a:extLst>
              </a:tr>
              <a:tr h="424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497805"/>
                  </a:ext>
                </a:extLst>
              </a:tr>
              <a:tr h="424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589653"/>
                  </a:ext>
                </a:extLst>
              </a:tr>
              <a:tr h="424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376241"/>
                  </a:ext>
                </a:extLst>
              </a:tr>
              <a:tr h="424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2891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DDA3B4B-B458-5A8F-11D7-2F63C4E5E5A5}"/>
              </a:ext>
            </a:extLst>
          </p:cNvPr>
          <p:cNvSpPr txBox="1"/>
          <p:nvPr/>
        </p:nvSpPr>
        <p:spPr>
          <a:xfrm>
            <a:off x="1143000" y="4953000"/>
            <a:ext cx="899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node performs constant work.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equals the number of nodes at each level.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1" y="512952"/>
            <a:ext cx="9005620" cy="771750"/>
          </a:xfrm>
          <a:prstGeom prst="rect">
            <a:avLst/>
          </a:prstGeom>
        </p:spPr>
        <p:txBody>
          <a:bodyPr vert="horz" wrap="square" lIns="0" tIns="276606" rIns="0" bIns="0" rtlCol="0">
            <a:spAutoFit/>
          </a:bodyPr>
          <a:lstStyle/>
          <a:p>
            <a:pPr marL="854710">
              <a:lnSpc>
                <a:spcPct val="100000"/>
              </a:lnSpc>
              <a:spcBef>
                <a:spcPts val="95"/>
              </a:spcBef>
            </a:pPr>
            <a:r>
              <a:rPr lang="en-IN" sz="3200" dirty="0"/>
              <a:t>Time Complexity Analysis</a:t>
            </a:r>
            <a:endParaRPr sz="3200" spc="-1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2286000"/>
            <a:ext cx="636891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48945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4340" y="512952"/>
            <a:ext cx="919162" cy="914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979" y="608456"/>
            <a:ext cx="698500" cy="88582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7E78472-3000-84AA-377D-10B91B218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368427"/>
            <a:ext cx="184731" cy="77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9D5BAF8-B695-46C1-A1C7-F5FDA6194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412186"/>
            <a:ext cx="97536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at each level forms a geometric series: 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+ 3 + 9 + 27 + ... + 3^(log₃ 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nodes increases by a factor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each level.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height of the recursion tree is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log₃ 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level contains approximately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work is proportional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= Θ(n)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9000" y="530158"/>
            <a:ext cx="8308340" cy="552638"/>
          </a:xfrm>
          <a:prstGeom prst="rect">
            <a:avLst/>
          </a:prstGeom>
        </p:spPr>
        <p:txBody>
          <a:bodyPr vert="horz" wrap="square" lIns="0" tIns="59613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lang="en-IN" sz="3200" dirty="0"/>
              <a:t>  Results and Discussion</a:t>
            </a:r>
            <a:endParaRPr sz="3200" dirty="0">
              <a:solidFill>
                <a:schemeClr val="tx2"/>
              </a:solidFill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89026"/>
            <a:ext cx="698500" cy="8858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4340" y="512952"/>
            <a:ext cx="919162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0CF1ED-B692-9B54-B2E6-BE0DA986201E}"/>
              </a:ext>
            </a:extLst>
          </p:cNvPr>
          <p:cNvSpPr txBox="1"/>
          <p:nvPr/>
        </p:nvSpPr>
        <p:spPr>
          <a:xfrm>
            <a:off x="609601" y="1981200"/>
            <a:ext cx="10667998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recurrence relation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3T(n/3) + 1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successfully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divided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equal subproblems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every recursive step.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recursion tree has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log₃ 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levels, and the total work at all levels forms a geometric series. The overall running time is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time complexity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Recursion Tree Method provides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visual approach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recursive algorithms and understanding their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6065" y="447479"/>
            <a:ext cx="8993378" cy="1599078"/>
          </a:xfrm>
          <a:prstGeom prst="rect">
            <a:avLst/>
          </a:prstGeom>
        </p:spPr>
        <p:txBody>
          <a:bodyPr vert="horz" wrap="square" lIns="0" tIns="364413" rIns="0" bIns="0" rtlCol="0">
            <a:spAutoFit/>
          </a:bodyPr>
          <a:lstStyle/>
          <a:p>
            <a:pPr marL="292100">
              <a:spcBef>
                <a:spcPts val="100"/>
              </a:spcBef>
            </a:pPr>
            <a:r>
              <a:rPr lang="en-IN" sz="3200" dirty="0"/>
              <a:t>                    Conclusion</a:t>
            </a:r>
            <a:br>
              <a:rPr lang="en-IN" sz="4800" dirty="0"/>
            </a:br>
            <a:endParaRPr lang="en-US" sz="4800" dirty="0">
              <a:solidFill>
                <a:schemeClr val="tx2"/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9778" y="270383"/>
            <a:ext cx="919162" cy="914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979" y="270384"/>
            <a:ext cx="698500" cy="914399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D4A5BD11-CFB5-FBAD-3EAC-A39D43CAA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502394"/>
            <a:ext cx="95267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33F12-B7B1-EEDE-BBA1-7B2C80D6368A}"/>
              </a:ext>
            </a:extLst>
          </p:cNvPr>
          <p:cNvSpPr txBox="1"/>
          <p:nvPr/>
        </p:nvSpPr>
        <p:spPr>
          <a:xfrm>
            <a:off x="747978" y="1600200"/>
            <a:ext cx="10529621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effective technique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recursive algorithms.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recurrence relation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3T(n/3) + 1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divides the problem into three equal subproblems with constant work at each recursive call. The recursion tree has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log₃ 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levels, and the total cost grows linearly with the input size.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time complexity of the recurrence is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helps evaluate the efficiency of divide-and-conquer algorithms and supports better algorithm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4388-1C30-57CB-4720-B0BF1AB6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72B8B-FD58-3AAB-7925-7765D748A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B75EB-5C51-3D56-74A2-6413D79D5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82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842</TotalTime>
  <Words>556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Recursion Tree Analysis for Three-Way Recurrence with Constant Work</vt:lpstr>
      <vt:lpstr>INTRODUCTION</vt:lpstr>
      <vt:lpstr>Problem Statement</vt:lpstr>
      <vt:lpstr>Recursion Tree Construction </vt:lpstr>
      <vt:lpstr>           Cost Analysis </vt:lpstr>
      <vt:lpstr>Time Complexity Analysis</vt:lpstr>
      <vt:lpstr>  Results and Discussion</vt:lpstr>
      <vt:lpstr>                   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 R</dc:creator>
  <cp:lastModifiedBy>Sarika KS</cp:lastModifiedBy>
  <cp:revision>72</cp:revision>
  <dcterms:created xsi:type="dcterms:W3CDTF">2025-12-22T16:01:15Z</dcterms:created>
  <dcterms:modified xsi:type="dcterms:W3CDTF">2026-07-23T06:29:17Z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2025-12-22T00:00:00Z</vt:filetime>
  </property>
  <property fmtid="{D5CDD505-2E9C-101B-9397-08002B2CF9AE}" pid="5" name="Producer">
    <vt:lpwstr>Microsoft® PowerPoint® 2021</vt:lpwstr>
  </property>
</Properties>
</file>